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4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A"/>
    <a:srgbClr val="2563EB"/>
    <a:srgbClr val="111827"/>
    <a:srgbClr val="DC2626"/>
    <a:srgbClr val="4267C8"/>
    <a:srgbClr val="0033CC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2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492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57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11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189" y="338167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E-commerce Cohort</a:t>
            </a:r>
            <a:endParaRPr lang="en-US" sz="4000" dirty="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Retention Analysis</a:t>
            </a:r>
            <a:endParaRPr lang="en-US" sz="4000" dirty="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28189" y="1682671"/>
            <a:ext cx="5410200" cy="21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Portfolio presentation | Product analytics case study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8096" y="3169560"/>
            <a:ext cx="257565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3"/>
                </a:solidFill>
              </a:rPr>
              <a:t>1/6</a:t>
            </a:r>
            <a:endParaRPr lang="en-US" sz="9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29549A-6B56-4806-82DD-65B4B51C549D}"/>
              </a:ext>
            </a:extLst>
          </p:cNvPr>
          <p:cNvGrpSpPr/>
          <p:nvPr/>
        </p:nvGrpSpPr>
        <p:grpSpPr>
          <a:xfrm>
            <a:off x="614373" y="2005436"/>
            <a:ext cx="4391045" cy="3636047"/>
            <a:chOff x="510781" y="2310062"/>
            <a:chExt cx="4391045" cy="363604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0CF629D-E25F-4596-BD22-02B84D3D3E8D}"/>
                </a:ext>
              </a:extLst>
            </p:cNvPr>
            <p:cNvSpPr/>
            <p:nvPr/>
          </p:nvSpPr>
          <p:spPr>
            <a:xfrm>
              <a:off x="510781" y="2310062"/>
              <a:ext cx="4391045" cy="3636047"/>
            </a:xfrm>
            <a:prstGeom prst="roundRect">
              <a:avLst/>
            </a:prstGeom>
            <a:solidFill>
              <a:srgbClr val="F4F6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0984809-780E-473D-9626-48A3BBBEC49C}"/>
                </a:ext>
              </a:extLst>
            </p:cNvPr>
            <p:cNvSpPr/>
            <p:nvPr/>
          </p:nvSpPr>
          <p:spPr>
            <a:xfrm>
              <a:off x="792480" y="2725163"/>
              <a:ext cx="3885396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2563E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CONTEXT</a:t>
              </a:r>
              <a:b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Product team suspects that many newly observed users may not be returning consistently</a:t>
              </a:r>
            </a:p>
            <a:p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 3"/>
            <p:cNvSpPr/>
            <p:nvPr/>
          </p:nvSpPr>
          <p:spPr>
            <a:xfrm>
              <a:off x="821358" y="4224227"/>
              <a:ext cx="3769893" cy="12897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b="1" dirty="0">
                  <a:solidFill>
                    <a:srgbClr val="2563E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BUSINESS QUESTION</a:t>
              </a:r>
            </a:p>
            <a:p>
              <a:pPr marL="0" indent="0">
                <a:buNone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How can we validate newly observed user retention and improve retention outcomes?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4D3C219-07FB-45B8-AD44-2B765EDC06AF}"/>
              </a:ext>
            </a:extLst>
          </p:cNvPr>
          <p:cNvCxnSpPr/>
          <p:nvPr/>
        </p:nvCxnSpPr>
        <p:spPr>
          <a:xfrm>
            <a:off x="541020" y="1931030"/>
            <a:ext cx="11109960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8BBD2CA-0164-45C0-9731-B7FED2D3F628}"/>
              </a:ext>
            </a:extLst>
          </p:cNvPr>
          <p:cNvSpPr/>
          <p:nvPr/>
        </p:nvSpPr>
        <p:spPr>
          <a:xfrm>
            <a:off x="4933377" y="2171671"/>
            <a:ext cx="2740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EXECUTIVE SUMMARY</a:t>
            </a:r>
            <a:endParaRPr lang="en-US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26B10DF-17F5-4808-B787-FA21B93ED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060350"/>
              </p:ext>
            </p:extLst>
          </p:nvPr>
        </p:nvGraphicFramePr>
        <p:xfrm>
          <a:off x="5020004" y="2695003"/>
          <a:ext cx="6139447" cy="316897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9828">
                  <a:extLst>
                    <a:ext uri="{9D8B030D-6E8A-4147-A177-3AD203B41FA5}">
                      <a16:colId xmlns:a16="http://schemas.microsoft.com/office/drawing/2014/main" val="2549192746"/>
                    </a:ext>
                  </a:extLst>
                </a:gridCol>
                <a:gridCol w="4579619">
                  <a:extLst>
                    <a:ext uri="{9D8B030D-6E8A-4147-A177-3AD203B41FA5}">
                      <a16:colId xmlns:a16="http://schemas.microsoft.com/office/drawing/2014/main" val="1557777136"/>
                    </a:ext>
                  </a:extLst>
                </a:gridCol>
              </a:tblGrid>
              <a:tr h="96111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563E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Dataset</a:t>
                      </a:r>
                      <a:endParaRPr lang="en-GB" b="1" dirty="0">
                        <a:solidFill>
                          <a:srgbClr val="2563E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RetailRocket</a:t>
                      </a:r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public dataset with 2.7M+ user-level events</a:t>
                      </a:r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987201"/>
                  </a:ext>
                </a:extLst>
              </a:tr>
              <a:tr h="10191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563E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finding</a:t>
                      </a:r>
                      <a:endParaRPr lang="en-GB" b="1" dirty="0">
                        <a:solidFill>
                          <a:srgbClr val="2563E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Largest retention decline occurs between D1 and D7, and remains broadly consistent across mature cohorts</a:t>
                      </a:r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296168"/>
                  </a:ext>
                </a:extLst>
              </a:tr>
              <a:tr h="101913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2563E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</a:t>
                      </a:r>
                      <a:endParaRPr lang="en-GB" b="1" dirty="0">
                        <a:solidFill>
                          <a:srgbClr val="2563EB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early browsing breadth as an engagement signal to encourage early exploration and re-engage low-breadth users</a:t>
                      </a:r>
                      <a:endParaRPr lang="en-GB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094357"/>
                  </a:ext>
                </a:extLst>
              </a:tr>
            </a:tbl>
          </a:graphicData>
        </a:graphic>
      </p:graphicFrame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9165E21-9F73-4E7D-8327-1514BF18760E}"/>
              </a:ext>
            </a:extLst>
          </p:cNvPr>
          <p:cNvCxnSpPr/>
          <p:nvPr/>
        </p:nvCxnSpPr>
        <p:spPr>
          <a:xfrm>
            <a:off x="5020004" y="2541003"/>
            <a:ext cx="5887988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D568461-2066-4DE8-9A3A-230F8BD33C13}"/>
              </a:ext>
            </a:extLst>
          </p:cNvPr>
          <p:cNvCxnSpPr/>
          <p:nvPr/>
        </p:nvCxnSpPr>
        <p:spPr>
          <a:xfrm>
            <a:off x="5020004" y="3455403"/>
            <a:ext cx="5887988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6E81E90-C54D-4CA6-9559-FA223AFD6C2B}"/>
              </a:ext>
            </a:extLst>
          </p:cNvPr>
          <p:cNvCxnSpPr/>
          <p:nvPr/>
        </p:nvCxnSpPr>
        <p:spPr>
          <a:xfrm>
            <a:off x="5145733" y="4664443"/>
            <a:ext cx="5887988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ECC630-4DF1-43A9-B806-BEDEE55A32DE}"/>
              </a:ext>
            </a:extLst>
          </p:cNvPr>
          <p:cNvCxnSpPr/>
          <p:nvPr/>
        </p:nvCxnSpPr>
        <p:spPr>
          <a:xfrm>
            <a:off x="5020004" y="2680156"/>
            <a:ext cx="0" cy="593002"/>
          </a:xfrm>
          <a:prstGeom prst="line">
            <a:avLst/>
          </a:prstGeom>
          <a:ln w="28575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C4731D-ACC9-4163-BEFF-68119FAB36D0}"/>
              </a:ext>
            </a:extLst>
          </p:cNvPr>
          <p:cNvCxnSpPr/>
          <p:nvPr/>
        </p:nvCxnSpPr>
        <p:spPr>
          <a:xfrm>
            <a:off x="5034976" y="4762956"/>
            <a:ext cx="0" cy="593002"/>
          </a:xfrm>
          <a:prstGeom prst="line">
            <a:avLst/>
          </a:prstGeom>
          <a:ln w="28575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D07E00-DE4D-4A31-BEEA-AB49912F3D9E}"/>
              </a:ext>
            </a:extLst>
          </p:cNvPr>
          <p:cNvCxnSpPr>
            <a:cxnSpLocks/>
          </p:cNvCxnSpPr>
          <p:nvPr/>
        </p:nvCxnSpPr>
        <p:spPr>
          <a:xfrm>
            <a:off x="5020004" y="3686489"/>
            <a:ext cx="0" cy="786925"/>
          </a:xfrm>
          <a:prstGeom prst="line">
            <a:avLst/>
          </a:prstGeom>
          <a:ln w="28575">
            <a:solidFill>
              <a:srgbClr val="2563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930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563E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How retention was measured</a:t>
            </a:r>
            <a:endParaRPr lang="en-US" sz="3000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9AA8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2/6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96606080-5BF9-4714-9424-3B52700CAAE9}"/>
              </a:ext>
            </a:extLst>
          </p:cNvPr>
          <p:cNvSpPr/>
          <p:nvPr/>
        </p:nvSpPr>
        <p:spPr>
          <a:xfrm>
            <a:off x="544068" y="890397"/>
            <a:ext cx="1097280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GB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E80BABD-3A9B-4197-B4BA-69F723CAE014}"/>
              </a:ext>
            </a:extLst>
          </p:cNvPr>
          <p:cNvGrpSpPr/>
          <p:nvPr/>
        </p:nvGrpSpPr>
        <p:grpSpPr>
          <a:xfrm>
            <a:off x="6095999" y="3382538"/>
            <a:ext cx="5360873" cy="1620667"/>
            <a:chOff x="6095999" y="3592716"/>
            <a:chExt cx="5360873" cy="1620667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61E3E5A-038B-4529-994D-336D36E7861A}"/>
                </a:ext>
              </a:extLst>
            </p:cNvPr>
            <p:cNvSpPr/>
            <p:nvPr/>
          </p:nvSpPr>
          <p:spPr>
            <a:xfrm>
              <a:off x="6095999" y="3592716"/>
              <a:ext cx="5360873" cy="1620667"/>
            </a:xfrm>
            <a:prstGeom prst="roundRect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 dirty="0">
                  <a:solidFill>
                    <a:schemeClr val="tx1"/>
                  </a:solidFill>
                  <a:latin typeface="Arial" panose="020B0604020202020204" pitchFamily="34" charset="0"/>
                </a:rPr>
                <a:t>Segmentation</a:t>
              </a:r>
              <a:b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</a:b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</a:rPr>
                <a:t>First-3-day browsing breadth</a:t>
              </a:r>
            </a:p>
            <a:p>
              <a:pPr lvl="3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item / 2 or 3 items / ≥ 4 items </a:t>
              </a:r>
            </a:p>
            <a:p>
              <a:pPr algn="ctr"/>
              <a:endParaRPr lang="en-GB" dirty="0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C461EF3-178E-43AE-8E8B-A946DFA6F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405246" y="3833280"/>
              <a:ext cx="1096260" cy="1082205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4EAD66B-D5FF-4665-9B37-FC81B5F97A70}"/>
              </a:ext>
            </a:extLst>
          </p:cNvPr>
          <p:cNvGrpSpPr/>
          <p:nvPr/>
        </p:nvGrpSpPr>
        <p:grpSpPr>
          <a:xfrm>
            <a:off x="594360" y="3382538"/>
            <a:ext cx="5219299" cy="1620667"/>
            <a:chOff x="594360" y="3592716"/>
            <a:chExt cx="5219299" cy="1620667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A751AF4-007A-4770-B3F9-EF0394A1A3CA}"/>
                </a:ext>
              </a:extLst>
            </p:cNvPr>
            <p:cNvSpPr/>
            <p:nvPr/>
          </p:nvSpPr>
          <p:spPr>
            <a:xfrm>
              <a:off x="594360" y="3592716"/>
              <a:ext cx="5219299" cy="1620667"/>
            </a:xfrm>
            <a:prstGeom prst="roundRect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250950" lvl="3"/>
              <a:endPara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250950" lvl="3"/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Checkpoints</a:t>
              </a:r>
              <a:b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D1, D7, D14, and D30 </a:t>
              </a:r>
            </a:p>
            <a:p>
              <a:pPr marL="1250950" lvl="3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measured using full 24-hour </a:t>
              </a:r>
            </a:p>
            <a:p>
              <a:pPr marL="1250950" lvl="3"/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day buckets</a:t>
              </a:r>
              <a:endPara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091E4F3-4339-4097-88BF-2D8E80138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1813" y="3810249"/>
              <a:ext cx="1086988" cy="1128266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D6BF36D-B04F-4465-9ED9-BB7008265708}"/>
              </a:ext>
            </a:extLst>
          </p:cNvPr>
          <p:cNvGrpSpPr/>
          <p:nvPr/>
        </p:nvGrpSpPr>
        <p:grpSpPr>
          <a:xfrm>
            <a:off x="594360" y="1301526"/>
            <a:ext cx="5219299" cy="1620667"/>
            <a:chOff x="594360" y="1511704"/>
            <a:chExt cx="5219299" cy="1620667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0C5FEE93-C41C-46ED-8760-0DA38ECD7BD9}"/>
                </a:ext>
              </a:extLst>
            </p:cNvPr>
            <p:cNvSpPr/>
            <p:nvPr/>
          </p:nvSpPr>
          <p:spPr>
            <a:xfrm>
              <a:off x="594360" y="1511704"/>
              <a:ext cx="5219299" cy="1620667"/>
            </a:xfrm>
            <a:prstGeom prst="roundRect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250950" lvl="3"/>
              <a:r>
                <a:rPr lang="en-US" alt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Cohort anchor</a:t>
              </a:r>
              <a:br>
                <a:rPr lang="en-US" altLang="en-US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First observed event date</a:t>
              </a:r>
              <a:endPara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GB" dirty="0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7FD83A5-8AF6-4B51-89DC-CEFC49319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35127" y="1788713"/>
              <a:ext cx="1093674" cy="986974"/>
            </a:xfrm>
            <a:prstGeom prst="rect">
              <a:avLst/>
            </a:prstGeom>
          </p:spPr>
        </p:pic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A186306-32C4-4198-A30D-B02F88C4362C}"/>
                </a:ext>
              </a:extLst>
            </p:cNvPr>
            <p:cNvSpPr/>
            <p:nvPr/>
          </p:nvSpPr>
          <p:spPr>
            <a:xfrm>
              <a:off x="2039352" y="2637926"/>
              <a:ext cx="1164657" cy="275521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first_seen</a:t>
              </a:r>
              <a:endPara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57520C7-42CD-4547-A67B-834ECCC80D86}"/>
              </a:ext>
            </a:extLst>
          </p:cNvPr>
          <p:cNvGrpSpPr/>
          <p:nvPr/>
        </p:nvGrpSpPr>
        <p:grpSpPr>
          <a:xfrm>
            <a:off x="6096000" y="1289571"/>
            <a:ext cx="5360873" cy="1620667"/>
            <a:chOff x="6096000" y="1499749"/>
            <a:chExt cx="5360873" cy="162066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471746C-5B12-42AF-BA9D-11A091B390B6}"/>
                </a:ext>
              </a:extLst>
            </p:cNvPr>
            <p:cNvSpPr/>
            <p:nvPr/>
          </p:nvSpPr>
          <p:spPr>
            <a:xfrm>
              <a:off x="6096000" y="1499749"/>
              <a:ext cx="5360873" cy="1620667"/>
            </a:xfrm>
            <a:prstGeom prst="roundRect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3"/>
              <a:r>
                <a: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Retention metric</a:t>
              </a:r>
              <a:b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Exact-day any-event return</a:t>
              </a:r>
            </a:p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49F4C3FD-19C4-47D6-A555-9BA3FA27A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405246" y="1697643"/>
              <a:ext cx="1025457" cy="1078044"/>
            </a:xfrm>
            <a:prstGeom prst="rect">
              <a:avLst/>
            </a:prstGeom>
          </p:spPr>
        </p:pic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650DE6F-CF59-43E3-AD3F-C11D390C92E5}"/>
                </a:ext>
              </a:extLst>
            </p:cNvPr>
            <p:cNvSpPr/>
            <p:nvPr/>
          </p:nvSpPr>
          <p:spPr>
            <a:xfrm>
              <a:off x="7611779" y="2652566"/>
              <a:ext cx="935455" cy="26088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view</a:t>
              </a:r>
              <a:endPara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F5E0E53-7A8C-43BE-99E6-0DB3E6892A88}"/>
                </a:ext>
              </a:extLst>
            </p:cNvPr>
            <p:cNvSpPr/>
            <p:nvPr/>
          </p:nvSpPr>
          <p:spPr>
            <a:xfrm>
              <a:off x="8658728" y="2652566"/>
              <a:ext cx="1164657" cy="26088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addtocart</a:t>
              </a:r>
              <a:endPara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85C1AEE0-9E20-407F-A997-ED6A40AE4619}"/>
                </a:ext>
              </a:extLst>
            </p:cNvPr>
            <p:cNvSpPr/>
            <p:nvPr/>
          </p:nvSpPr>
          <p:spPr>
            <a:xfrm>
              <a:off x="9964556" y="2652566"/>
              <a:ext cx="1281563" cy="260882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transaction</a:t>
              </a:r>
              <a:endPara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Rectangle 3">
            <a:extLst>
              <a:ext uri="{FF2B5EF4-FFF2-40B4-BE49-F238E27FC236}">
                <a16:creationId xmlns:a16="http://schemas.microsoft.com/office/drawing/2014/main" id="{EF5C959E-E15C-47CD-A762-9DBB96377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00" y="5595292"/>
            <a:ext cx="11316259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Note: </a:t>
            </a:r>
            <a:r>
              <a:rPr kumimoji="0" lang="en-US" altLang="en-US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first_seen</a:t>
            </a: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proxy for signup, and retention is measured only for users with enough observation time.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The largest retention drop happens between D1 and D7</a:t>
            </a:r>
            <a:endParaRPr lang="en-US" sz="3200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4068" y="890397"/>
            <a:ext cx="10972800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23" name="Text 20"/>
          <p:cNvSpPr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3"/>
                </a:solidFill>
              </a:rPr>
              <a:t>3/6</a:t>
            </a:r>
            <a:endParaRPr lang="en-US" sz="9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2DB1BD4-B9F6-4B8A-9F5D-7CF03D0F8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846774"/>
              </p:ext>
            </p:extLst>
          </p:nvPr>
        </p:nvGraphicFramePr>
        <p:xfrm>
          <a:off x="619185" y="1440397"/>
          <a:ext cx="8549640" cy="258467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709928">
                  <a:extLst>
                    <a:ext uri="{9D8B030D-6E8A-4147-A177-3AD203B41FA5}">
                      <a16:colId xmlns:a16="http://schemas.microsoft.com/office/drawing/2014/main" val="4194968465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2901835106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1906127341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3818334724"/>
                    </a:ext>
                  </a:extLst>
                </a:gridCol>
                <a:gridCol w="1709928">
                  <a:extLst>
                    <a:ext uri="{9D8B030D-6E8A-4147-A177-3AD203B41FA5}">
                      <a16:colId xmlns:a16="http://schemas.microsoft.com/office/drawing/2014/main" val="187671149"/>
                    </a:ext>
                  </a:extLst>
                </a:gridCol>
              </a:tblGrid>
              <a:tr h="922283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Checkpoint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Mature users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Retained users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Exact-day retention rate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Drop from previous checkpoint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73405"/>
                  </a:ext>
                </a:extLst>
              </a:tr>
              <a:tr h="41559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1,366,774</a:t>
                      </a:r>
                    </a:p>
                  </a:txBody>
                  <a:tcPr marL="63500" marR="63500" marT="31750" marB="317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21,813</a:t>
                      </a:r>
                    </a:p>
                  </a:txBody>
                  <a:tcPr marL="63500" marR="63500" marT="31750" marB="317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1.596%</a:t>
                      </a:r>
                    </a:p>
                  </a:txBody>
                  <a:tcPr marL="63500" marR="63500" marT="31750" marB="317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GB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6093434"/>
                  </a:ext>
                </a:extLst>
              </a:tr>
              <a:tr h="415597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2563E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D7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2563E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1,328,821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2563E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6,756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solidFill>
                            <a:srgbClr val="2563EB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0.508%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rgbClr val="2563E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-1.088 pp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366097"/>
                  </a:ext>
                </a:extLst>
              </a:tr>
              <a:tr h="41559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D14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1,262,817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3,730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0.295%</a:t>
                      </a:r>
                    </a:p>
                  </a:txBody>
                  <a:tcPr marL="63500" marR="63500" marT="31750" marB="317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-0.213 pp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139378"/>
                  </a:ext>
                </a:extLst>
              </a:tr>
              <a:tr h="415597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D30</a:t>
                      </a:r>
                    </a:p>
                  </a:txBody>
                  <a:tcPr marL="63500" marR="63500" marT="31750" marB="317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1,115,048</a:t>
                      </a:r>
                    </a:p>
                  </a:txBody>
                  <a:tcPr marL="63500" marR="63500" marT="31750" marB="317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1,651</a:t>
                      </a:r>
                    </a:p>
                  </a:txBody>
                  <a:tcPr marL="63500" marR="63500" marT="31750" marB="317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0.148%</a:t>
                      </a:r>
                    </a:p>
                  </a:txBody>
                  <a:tcPr marL="63500" marR="63500" marT="31750" marB="317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-0.147 pp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242574"/>
                  </a:ext>
                </a:extLst>
              </a:tr>
            </a:tbl>
          </a:graphicData>
        </a:graphic>
      </p:graphicFrame>
      <p:sp>
        <p:nvSpPr>
          <p:cNvPr id="26" name="Rectangle 1">
            <a:extLst>
              <a:ext uri="{FF2B5EF4-FFF2-40B4-BE49-F238E27FC236}">
                <a16:creationId xmlns:a16="http://schemas.microsoft.com/office/drawing/2014/main" id="{ABFDD28D-5004-449F-997C-93E419E84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8" y="4074969"/>
            <a:ext cx="37349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* pp = percentage points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283ECEC-888B-4F4A-AC0A-8D13F3BBAFEF}"/>
              </a:ext>
            </a:extLst>
          </p:cNvPr>
          <p:cNvGrpSpPr/>
          <p:nvPr/>
        </p:nvGrpSpPr>
        <p:grpSpPr>
          <a:xfrm>
            <a:off x="7519224" y="2882678"/>
            <a:ext cx="200024" cy="992737"/>
            <a:chOff x="7358061" y="2638423"/>
            <a:chExt cx="200027" cy="1104347"/>
          </a:xfrm>
          <a:solidFill>
            <a:srgbClr val="DC2626"/>
          </a:solidFill>
        </p:grpSpPr>
        <p:sp>
          <p:nvSpPr>
            <p:cNvPr id="28" name="Flowchart: Merge 27">
              <a:extLst>
                <a:ext uri="{FF2B5EF4-FFF2-40B4-BE49-F238E27FC236}">
                  <a16:creationId xmlns:a16="http://schemas.microsoft.com/office/drawing/2014/main" id="{F841D728-AD03-4940-A047-0C638B225428}"/>
                </a:ext>
              </a:extLst>
            </p:cNvPr>
            <p:cNvSpPr/>
            <p:nvPr/>
          </p:nvSpPr>
          <p:spPr>
            <a:xfrm>
              <a:off x="7358061" y="2638423"/>
              <a:ext cx="200025" cy="157162"/>
            </a:xfrm>
            <a:prstGeom prst="flowChartMerge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lowchart: Merge 28">
              <a:extLst>
                <a:ext uri="{FF2B5EF4-FFF2-40B4-BE49-F238E27FC236}">
                  <a16:creationId xmlns:a16="http://schemas.microsoft.com/office/drawing/2014/main" id="{6CCB6945-F512-48F9-B99F-6027CD4E998C}"/>
                </a:ext>
              </a:extLst>
            </p:cNvPr>
            <p:cNvSpPr/>
            <p:nvPr/>
          </p:nvSpPr>
          <p:spPr>
            <a:xfrm>
              <a:off x="7358063" y="3127929"/>
              <a:ext cx="200025" cy="157163"/>
            </a:xfrm>
            <a:prstGeom prst="flowChartMerge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lowchart: Merge 29">
              <a:extLst>
                <a:ext uri="{FF2B5EF4-FFF2-40B4-BE49-F238E27FC236}">
                  <a16:creationId xmlns:a16="http://schemas.microsoft.com/office/drawing/2014/main" id="{B400F0DF-F676-4AAC-8627-C57CB9A8A027}"/>
                </a:ext>
              </a:extLst>
            </p:cNvPr>
            <p:cNvSpPr/>
            <p:nvPr/>
          </p:nvSpPr>
          <p:spPr>
            <a:xfrm>
              <a:off x="7358063" y="3585607"/>
              <a:ext cx="200023" cy="157163"/>
            </a:xfrm>
            <a:prstGeom prst="flowChartMerge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E2D36C28-6396-4638-A4AD-31FBA13E76C9}"/>
              </a:ext>
            </a:extLst>
          </p:cNvPr>
          <p:cNvSpPr/>
          <p:nvPr/>
        </p:nvSpPr>
        <p:spPr>
          <a:xfrm>
            <a:off x="594360" y="4356180"/>
            <a:ext cx="58635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Mature users means users whose first-seen date is early enough that the dataset has enough observation time to measure that checkpoint.</a:t>
            </a:r>
            <a:endParaRPr lang="en-US" sz="1400" b="0" dirty="0">
              <a:solidFill>
                <a:schemeClr val="bg2">
                  <a:lumMod val="5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4B836E-B439-48C0-B3AF-E78CFF1DC018}"/>
              </a:ext>
            </a:extLst>
          </p:cNvPr>
          <p:cNvSpPr txBox="1"/>
          <p:nvPr/>
        </p:nvSpPr>
        <p:spPr>
          <a:xfrm>
            <a:off x="612648" y="5024477"/>
            <a:ext cx="10031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Exact-day retention generally declines from D1 to D30, especially drops sharply after Day 1 and before Day 7.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49A9C-637F-44E6-A69E-A1E4934C4884}"/>
              </a:ext>
            </a:extLst>
          </p:cNvPr>
          <p:cNvSpPr/>
          <p:nvPr/>
        </p:nvSpPr>
        <p:spPr>
          <a:xfrm>
            <a:off x="2050662" y="5298852"/>
            <a:ext cx="94662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suggests </a:t>
            </a:r>
            <a:r>
              <a:rPr lang="en-US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n-US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lifecycle window to investigate</a:t>
            </a:r>
            <a:r>
              <a:rPr lang="en-US" b="1" dirty="0">
                <a:solidFill>
                  <a:srgbClr val="0033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F196798-47FF-4329-8727-75249F526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68" y="1059865"/>
            <a:ext cx="54938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Overall exact-day any-event retention by checkpoint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3A8E3E-D161-4941-8970-00A4770A64D9}"/>
              </a:ext>
            </a:extLst>
          </p:cNvPr>
          <p:cNvGrpSpPr/>
          <p:nvPr/>
        </p:nvGrpSpPr>
        <p:grpSpPr>
          <a:xfrm>
            <a:off x="619184" y="5986493"/>
            <a:ext cx="10927079" cy="369332"/>
            <a:chOff x="619184" y="5986493"/>
            <a:chExt cx="10927079" cy="369332"/>
          </a:xfrm>
          <a:solidFill>
            <a:srgbClr val="F0F4FA"/>
          </a:solidFill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29F741D-76E0-4C97-A83D-C7731F325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184" y="5986493"/>
              <a:ext cx="10927079" cy="369332"/>
            </a:xfrm>
            <a:prstGeom prst="rect">
              <a:avLst/>
            </a:prstGeom>
            <a:solidFill>
              <a:srgbClr val="F4F6FA"/>
            </a:solidFill>
            <a:ln w="28575">
              <a:noFill/>
              <a:prstDash val="sysDash"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 i="1" dirty="0">
                  <a:latin typeface="Arial" panose="020B0604020202020204" pitchFamily="34" charset="0"/>
                </a:rPr>
                <a:t>         Next: </a:t>
              </a:r>
              <a:r>
                <a:rPr lang="en-US" altLang="en-US" i="1" dirty="0">
                  <a:latin typeface="Arial" panose="020B0604020202020204" pitchFamily="34" charset="0"/>
                </a:rPr>
                <a:t>Is the D1–D7 drop mainly driven by a few unusual cohorts?</a:t>
              </a:r>
              <a:endPara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A52E679-AF6D-4690-A944-A5CEE4F4AAE2}"/>
                </a:ext>
              </a:extLst>
            </p:cNvPr>
            <p:cNvSpPr/>
            <p:nvPr/>
          </p:nvSpPr>
          <p:spPr>
            <a:xfrm>
              <a:off x="817679" y="5998654"/>
              <a:ext cx="343885" cy="34501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133164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The D1–D7 drop is broadly consistent across cohorts</a:t>
            </a:r>
            <a:endParaRPr lang="en-US" sz="3200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5300" y="698377"/>
            <a:ext cx="10972800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7" name="Text 4"/>
          <p:cNvSpPr/>
          <p:nvPr/>
        </p:nvSpPr>
        <p:spPr>
          <a:xfrm>
            <a:off x="7589520" y="1764792"/>
            <a:ext cx="342900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>
              <a:buSzPct val="100000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69570" y="5807501"/>
            <a:ext cx="7409307" cy="212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B7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first and last cohort weeks are boundary cohorts and excluded from interpretation.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A8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4/6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D1FB791-8B8C-4FB1-8AC2-9DBEC03D5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777" y="2073085"/>
            <a:ext cx="560798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Most mature weekly cohorts follow a similar pattern: D1 is highest, followed by lower D7, D14, and D30 retention. This makes the </a:t>
            </a:r>
            <a:r>
              <a:rPr lang="en-US" altLang="en-US" b="1" dirty="0">
                <a:solidFill>
                  <a:srgbClr val="2563EB"/>
                </a:solidFill>
                <a:latin typeface="Arial" panose="020B0604020202020204" pitchFamily="34" charset="0"/>
              </a:rPr>
              <a:t>early drop-off pattern </a:t>
            </a:r>
            <a:r>
              <a:rPr lang="en-US" altLang="en-US" dirty="0">
                <a:latin typeface="Arial" panose="020B0604020202020204" pitchFamily="34" charset="0"/>
              </a:rPr>
              <a:t>found in the overall table </a:t>
            </a:r>
            <a:r>
              <a:rPr lang="en-US" altLang="en-US" b="1" dirty="0">
                <a:solidFill>
                  <a:srgbClr val="2563EB"/>
                </a:solidFill>
                <a:latin typeface="Arial" panose="020B0604020202020204" pitchFamily="34" charset="0"/>
              </a:rPr>
              <a:t>more reliable</a:t>
            </a:r>
            <a:r>
              <a:rPr lang="en-US" alt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3C4CA60-B020-43A6-9AD4-A5F1DDF8F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7777" y="3636322"/>
            <a:ext cx="560798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Also strengthens the case that the </a:t>
            </a:r>
            <a:r>
              <a:rPr lang="en-US" altLang="en-US" b="1" dirty="0">
                <a:solidFill>
                  <a:srgbClr val="2563EB"/>
                </a:solidFill>
                <a:latin typeface="Arial" panose="020B0604020202020204" pitchFamily="34" charset="0"/>
              </a:rPr>
              <a:t>D1–D7 window is worth investigating </a:t>
            </a:r>
            <a:r>
              <a:rPr lang="en-US" altLang="en-US" dirty="0">
                <a:latin typeface="Arial" panose="020B0604020202020204" pitchFamily="34" charset="0"/>
              </a:rPr>
              <a:t>for early retention actions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236A20-7AC5-4FA2-B8C4-4020D3E749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82"/>
          <a:stretch/>
        </p:blipFill>
        <p:spPr>
          <a:xfrm>
            <a:off x="569569" y="1125707"/>
            <a:ext cx="5211799" cy="4681794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AD5DF56A-73D7-4518-AE9C-B6305F9D3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821792"/>
            <a:ext cx="49895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Weekly exact-day retention by first-seen cohort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26C558-2F13-4F7B-BE34-E7940B1E325F}"/>
              </a:ext>
            </a:extLst>
          </p:cNvPr>
          <p:cNvGrpSpPr/>
          <p:nvPr/>
        </p:nvGrpSpPr>
        <p:grpSpPr>
          <a:xfrm>
            <a:off x="569570" y="6305788"/>
            <a:ext cx="10854365" cy="369332"/>
            <a:chOff x="569570" y="6305788"/>
            <a:chExt cx="10854365" cy="36933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FA90E4B1-43FD-4C8F-82B0-56CF1CD91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570" y="6305788"/>
              <a:ext cx="10854365" cy="369332"/>
            </a:xfrm>
            <a:prstGeom prst="rect">
              <a:avLst/>
            </a:prstGeom>
            <a:solidFill>
              <a:srgbClr val="F4F6FA"/>
            </a:solidFill>
            <a:ln w="28575">
              <a:noFill/>
              <a:prstDash val="sysDash"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i="1" dirty="0">
                  <a:latin typeface="Arial" panose="020B0604020202020204" pitchFamily="34" charset="0"/>
                </a:rPr>
                <a:t>         </a:t>
              </a:r>
              <a:r>
                <a:rPr lang="en-US" altLang="en-US" b="1" i="1" dirty="0">
                  <a:latin typeface="Arial" panose="020B0604020202020204" pitchFamily="34" charset="0"/>
                </a:rPr>
                <a:t>Next: </a:t>
              </a:r>
              <a:r>
                <a:rPr lang="en-US" altLang="en-US" i="1" dirty="0">
                  <a:latin typeface="Arial" panose="020B0604020202020204" pitchFamily="34" charset="0"/>
                </a:rPr>
                <a:t>Can early user behavior help distinguish users with stronger vs weaker retention?</a:t>
              </a:r>
              <a:endPara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A935692-7E0B-4BF9-AF31-D696E8803280}"/>
                </a:ext>
              </a:extLst>
            </p:cNvPr>
            <p:cNvSpPr/>
            <p:nvPr/>
          </p:nvSpPr>
          <p:spPr>
            <a:xfrm>
              <a:off x="768065" y="6330110"/>
              <a:ext cx="343885" cy="345010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en-GB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602FF81-D88B-4F06-88FC-D6076C31F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79" y="2152086"/>
            <a:ext cx="6371549" cy="447390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94360" y="347472"/>
            <a:ext cx="105024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Broader early browsing is associated with </a:t>
            </a:r>
          </a:p>
          <a:p>
            <a:r>
              <a:rPr lang="en-US" sz="3200" b="1" dirty="0">
                <a:solidFill>
                  <a:srgbClr val="2563E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stronger retention at D7, D14, and D30</a:t>
            </a:r>
            <a:endParaRPr lang="en-US" sz="3200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8180" y="1844715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D6B78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Exact-day retention by early browsing breadth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127599"/>
            <a:ext cx="10972800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sp>
      <p:sp>
        <p:nvSpPr>
          <p:cNvPr id="10" name="Text 7"/>
          <p:cNvSpPr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8B3"/>
                </a:solidFill>
              </a:rPr>
              <a:t>5/6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A6602-BD2B-4813-8F95-380059F1C701}"/>
              </a:ext>
            </a:extLst>
          </p:cNvPr>
          <p:cNvSpPr txBox="1"/>
          <p:nvPr/>
        </p:nvSpPr>
        <p:spPr>
          <a:xfrm>
            <a:off x="561472" y="6574536"/>
            <a:ext cx="7686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D1 is excluded because it falls partly within the first 3 days used to define the segments.</a:t>
            </a:r>
            <a:endParaRPr lang="en-GB" sz="1400" i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686AF-04F4-4CA4-B47A-0639E76A22ED}"/>
              </a:ext>
            </a:extLst>
          </p:cNvPr>
          <p:cNvSpPr/>
          <p:nvPr/>
        </p:nvSpPr>
        <p:spPr>
          <a:xfrm>
            <a:off x="7373488" y="2367872"/>
            <a:ext cx="46169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Retention is consistently ordered by early browsing breadth: users who interacted with </a:t>
            </a:r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≥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items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have the highest retention at every checkpoint, followed by 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or 3 items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while </a:t>
            </a:r>
            <a:r>
              <a:rPr lang="en-US" b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item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users have the lowest.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80A36-60F8-469C-9269-6EE5FE31A733}"/>
              </a:ext>
            </a:extLst>
          </p:cNvPr>
          <p:cNvSpPr/>
          <p:nvPr/>
        </p:nvSpPr>
        <p:spPr>
          <a:xfrm>
            <a:off x="7373488" y="4119231"/>
            <a:ext cx="46169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makes </a:t>
            </a:r>
            <a:r>
              <a:rPr lang="en-US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early browsing breadth a useful signal</a:t>
            </a:r>
            <a:r>
              <a:rPr lang="en-US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identifying users who may need engagement support.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822FC5C-D30B-4CA8-9041-FB2763237419}"/>
              </a:ext>
            </a:extLst>
          </p:cNvPr>
          <p:cNvGrpSpPr/>
          <p:nvPr/>
        </p:nvGrpSpPr>
        <p:grpSpPr>
          <a:xfrm>
            <a:off x="561472" y="1178140"/>
            <a:ext cx="10731368" cy="584775"/>
            <a:chOff x="561472" y="1178140"/>
            <a:chExt cx="10731368" cy="58477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BE39EB-41DE-4A7C-A0FD-66C20CE4EA6F}"/>
                </a:ext>
              </a:extLst>
            </p:cNvPr>
            <p:cNvSpPr txBox="1"/>
            <p:nvPr/>
          </p:nvSpPr>
          <p:spPr>
            <a:xfrm>
              <a:off x="561472" y="1178140"/>
              <a:ext cx="10731368" cy="584775"/>
            </a:xfrm>
            <a:prstGeom prst="rect">
              <a:avLst/>
            </a:prstGeom>
            <a:solidFill>
              <a:srgbClr val="F4F6FA"/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       Segments are based on the number of distinct items that users interacted with during the first 3 days:</a:t>
              </a:r>
            </a:p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        1 item, 2 or 3 items, and equal or more than 4 items.</a:t>
              </a:r>
              <a:endParaRPr lang="en-GB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48CAFE-28A9-451B-8F0D-FC738056AEDD}"/>
                </a:ext>
              </a:extLst>
            </p:cNvPr>
            <p:cNvSpPr/>
            <p:nvPr/>
          </p:nvSpPr>
          <p:spPr>
            <a:xfrm>
              <a:off x="590723" y="1212713"/>
              <a:ext cx="500412" cy="446967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sym typeface="Webdings" panose="05030102010509060703" pitchFamily="18" charset="2"/>
                </a:rPr>
                <a:t></a:t>
              </a:r>
              <a:endParaRPr lang="en-GB" sz="32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7E75AF-3F91-4F7E-A943-3DB02D6E4824}"/>
              </a:ext>
            </a:extLst>
          </p:cNvPr>
          <p:cNvSpPr/>
          <p:nvPr/>
        </p:nvSpPr>
        <p:spPr>
          <a:xfrm>
            <a:off x="6324081" y="5206977"/>
            <a:ext cx="842354" cy="2826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≥4 items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6BC876B-51DC-4C54-8917-07DEBA9687DE}"/>
              </a:ext>
            </a:extLst>
          </p:cNvPr>
          <p:cNvSpPr/>
          <p:nvPr/>
        </p:nvSpPr>
        <p:spPr>
          <a:xfrm>
            <a:off x="6265727" y="5715809"/>
            <a:ext cx="1077273" cy="307777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2 or 3 items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CF16BA-0711-4A38-AE54-B3EDDCFF6135}"/>
              </a:ext>
            </a:extLst>
          </p:cNvPr>
          <p:cNvSpPr/>
          <p:nvPr/>
        </p:nvSpPr>
        <p:spPr>
          <a:xfrm>
            <a:off x="6383187" y="6113020"/>
            <a:ext cx="842354" cy="28264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item</a:t>
            </a:r>
            <a:endParaRPr lang="en-GB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800073"/>
            <a:ext cx="10972800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sp>
      <p:sp>
        <p:nvSpPr>
          <p:cNvPr id="5" name="Text 3"/>
          <p:cNvSpPr/>
          <p:nvPr/>
        </p:nvSpPr>
        <p:spPr>
          <a:xfrm>
            <a:off x="354025" y="250393"/>
            <a:ext cx="7955280" cy="557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Recommended action path</a:t>
            </a:r>
            <a:endParaRPr lang="en-US" sz="3000" dirty="0">
              <a:solidFill>
                <a:srgbClr val="2563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70093" y="3564142"/>
            <a:ext cx="50292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Shape 11"/>
          <p:cNvSpPr/>
          <p:nvPr/>
        </p:nvSpPr>
        <p:spPr>
          <a:xfrm>
            <a:off x="5844540" y="3608499"/>
            <a:ext cx="50292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Text 18"/>
          <p:cNvSpPr/>
          <p:nvPr/>
        </p:nvSpPr>
        <p:spPr>
          <a:xfrm>
            <a:off x="112928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dirty="0">
                <a:solidFill>
                  <a:srgbClr val="9AA8B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6/6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3370BEA-6AB0-46DA-92D2-12E26C65F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85" y="6135872"/>
            <a:ext cx="112604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Recommendations are hypotheses to test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through experiments or causal analysis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not proven causal effects.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41243AA0-AEDD-46DB-B41E-9FB5B81E9F91}"/>
              </a:ext>
            </a:extLst>
          </p:cNvPr>
          <p:cNvSpPr/>
          <p:nvPr/>
        </p:nvSpPr>
        <p:spPr>
          <a:xfrm>
            <a:off x="8921482" y="3652388"/>
            <a:ext cx="50292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C5F532-B459-4941-81DD-0CABAD545D8B}"/>
              </a:ext>
            </a:extLst>
          </p:cNvPr>
          <p:cNvSpPr/>
          <p:nvPr/>
        </p:nvSpPr>
        <p:spPr>
          <a:xfrm>
            <a:off x="313518" y="1465822"/>
            <a:ext cx="2352120" cy="4351279"/>
          </a:xfrm>
          <a:prstGeom prst="round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8FD2E10-0E12-48F3-81D2-2E96FCA514C2}"/>
              </a:ext>
            </a:extLst>
          </p:cNvPr>
          <p:cNvGrpSpPr/>
          <p:nvPr/>
        </p:nvGrpSpPr>
        <p:grpSpPr>
          <a:xfrm>
            <a:off x="266308" y="1251388"/>
            <a:ext cx="2503785" cy="4321055"/>
            <a:chOff x="266308" y="1251388"/>
            <a:chExt cx="2503785" cy="4321055"/>
          </a:xfrm>
        </p:grpSpPr>
        <p:sp>
          <p:nvSpPr>
            <p:cNvPr id="6" name="Text 4"/>
            <p:cNvSpPr/>
            <p:nvPr/>
          </p:nvSpPr>
          <p:spPr>
            <a:xfrm>
              <a:off x="739072" y="1872264"/>
              <a:ext cx="1501011" cy="287091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  <p:txBody>
            <a:bodyPr wrap="square" lIns="254" tIns="254" rIns="254" bIns="254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563E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First 3 days</a:t>
              </a:r>
              <a:endParaRPr lang="en-US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266308" y="2180992"/>
              <a:ext cx="2503785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621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Increase early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rgbClr val="1621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item exploration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354025" y="4612323"/>
              <a:ext cx="224451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5D6B7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Test stronger discovery surfaces to move users beyond one item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4648488-DCE0-4D6F-996D-A2DC398923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727" b="9911"/>
            <a:stretch/>
          </p:blipFill>
          <p:spPr>
            <a:xfrm>
              <a:off x="675990" y="3101013"/>
              <a:ext cx="1526095" cy="1149487"/>
            </a:xfrm>
            <a:prstGeom prst="rect">
              <a:avLst/>
            </a:prstGeom>
          </p:spPr>
        </p:pic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8C2E577-E636-4C61-83CC-1DB2EDA9C961}"/>
                </a:ext>
              </a:extLst>
            </p:cNvPr>
            <p:cNvSpPr/>
            <p:nvPr/>
          </p:nvSpPr>
          <p:spPr>
            <a:xfrm>
              <a:off x="1251555" y="1251388"/>
              <a:ext cx="449451" cy="428867"/>
            </a:xfrm>
            <a:prstGeom prst="ellipse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GB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379A365-6856-484B-A2AD-3E113249B383}"/>
              </a:ext>
            </a:extLst>
          </p:cNvPr>
          <p:cNvGrpSpPr/>
          <p:nvPr/>
        </p:nvGrpSpPr>
        <p:grpSpPr>
          <a:xfrm>
            <a:off x="3283150" y="1246914"/>
            <a:ext cx="2503785" cy="4565657"/>
            <a:chOff x="3283150" y="1246914"/>
            <a:chExt cx="2503785" cy="4565657"/>
          </a:xfrm>
        </p:grpSpPr>
        <p:sp>
          <p:nvSpPr>
            <p:cNvPr id="10" name="Text 8"/>
            <p:cNvSpPr/>
            <p:nvPr/>
          </p:nvSpPr>
          <p:spPr>
            <a:xfrm>
              <a:off x="3480448" y="1869081"/>
              <a:ext cx="2109187" cy="287091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  <p:txBody>
            <a:bodyPr wrap="square" lIns="254" tIns="254" rIns="254" bIns="254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563E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After first 3 days</a:t>
              </a:r>
              <a:endParaRPr lang="en-US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660283" y="2421887"/>
              <a:ext cx="1832901" cy="495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621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Re-engage low-breadth users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354969" y="4519403"/>
              <a:ext cx="2360143" cy="105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5D6B7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Target users who explored only 1 item with reminders or related-item recommendations.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E191DD2-5A58-46B0-8FA4-C7A0781CA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65754" y="3192331"/>
              <a:ext cx="1571460" cy="1124030"/>
            </a:xfrm>
            <a:prstGeom prst="rect">
              <a:avLst/>
            </a:prstGeom>
          </p:spPr>
        </p:pic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134B5687-4DA2-4ED7-8BD6-27C5AC2D5E9A}"/>
                </a:ext>
              </a:extLst>
            </p:cNvPr>
            <p:cNvSpPr/>
            <p:nvPr/>
          </p:nvSpPr>
          <p:spPr>
            <a:xfrm>
              <a:off x="3283150" y="1461348"/>
              <a:ext cx="2503785" cy="4351223"/>
            </a:xfrm>
            <a:prstGeom prst="roundRect">
              <a:avLst/>
            </a:prstGeom>
            <a:no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4F20DCB-D487-4FF8-8E4F-49F5C8F3BA62}"/>
                </a:ext>
              </a:extLst>
            </p:cNvPr>
            <p:cNvSpPr/>
            <p:nvPr/>
          </p:nvSpPr>
          <p:spPr>
            <a:xfrm>
              <a:off x="4290537" y="1246914"/>
              <a:ext cx="449451" cy="42886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GB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C510874-3954-4FC3-84F5-0747B599ED62}"/>
              </a:ext>
            </a:extLst>
          </p:cNvPr>
          <p:cNvGrpSpPr/>
          <p:nvPr/>
        </p:nvGrpSpPr>
        <p:grpSpPr>
          <a:xfrm>
            <a:off x="6346186" y="1235273"/>
            <a:ext cx="2503785" cy="4576591"/>
            <a:chOff x="6346186" y="1235273"/>
            <a:chExt cx="2503785" cy="4576591"/>
          </a:xfrm>
        </p:grpSpPr>
        <p:sp>
          <p:nvSpPr>
            <p:cNvPr id="14" name="Text 12"/>
            <p:cNvSpPr/>
            <p:nvPr/>
          </p:nvSpPr>
          <p:spPr>
            <a:xfrm>
              <a:off x="7072298" y="1869267"/>
              <a:ext cx="1051560" cy="256032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  <p:txBody>
            <a:bodyPr wrap="square" lIns="254" tIns="254" rIns="254" bIns="254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563E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Day 7</a:t>
              </a:r>
              <a:endParaRPr lang="en-US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455433" y="2384810"/>
              <a:ext cx="2206967" cy="53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621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Measure early success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6348640" y="4652671"/>
              <a:ext cx="2430283" cy="6463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5D6B7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Compare D7 return against a control group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570E1E7-E21A-4BA9-9723-0B5859D3D8A6}"/>
                </a:ext>
              </a:extLst>
            </p:cNvPr>
            <p:cNvSpPr/>
            <p:nvPr/>
          </p:nvSpPr>
          <p:spPr>
            <a:xfrm>
              <a:off x="6346186" y="1465822"/>
              <a:ext cx="2503785" cy="4346042"/>
            </a:xfrm>
            <a:prstGeom prst="roundRect">
              <a:avLst/>
            </a:prstGeom>
            <a:no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1E4FEE3-AC61-4E4C-9D80-9BE476EC9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71851" y="3067899"/>
              <a:ext cx="1919724" cy="1372893"/>
            </a:xfrm>
            <a:prstGeom prst="rect">
              <a:avLst/>
            </a:prstGeom>
          </p:spPr>
        </p:pic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74B4E90-1940-4D1B-B3EC-C07BC297C26B}"/>
                </a:ext>
              </a:extLst>
            </p:cNvPr>
            <p:cNvSpPr/>
            <p:nvPr/>
          </p:nvSpPr>
          <p:spPr>
            <a:xfrm>
              <a:off x="7334190" y="1235273"/>
              <a:ext cx="449451" cy="42886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GB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74030B-AA61-44A1-B513-41DE5D7DB5BC}"/>
              </a:ext>
            </a:extLst>
          </p:cNvPr>
          <p:cNvGrpSpPr/>
          <p:nvPr/>
        </p:nvGrpSpPr>
        <p:grpSpPr>
          <a:xfrm>
            <a:off x="9264106" y="1231982"/>
            <a:ext cx="2834640" cy="4585118"/>
            <a:chOff x="9264106" y="1231982"/>
            <a:chExt cx="2834640" cy="4585118"/>
          </a:xfrm>
        </p:grpSpPr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073C4082-FA18-462D-BE10-9EE3E52A4057}"/>
                </a:ext>
              </a:extLst>
            </p:cNvPr>
            <p:cNvSpPr/>
            <p:nvPr/>
          </p:nvSpPr>
          <p:spPr>
            <a:xfrm>
              <a:off x="9791352" y="1869081"/>
              <a:ext cx="1806278" cy="277265"/>
            </a:xfrm>
            <a:prstGeom prst="rect">
              <a:avLst/>
            </a:prstGeom>
            <a:solidFill>
              <a:srgbClr val="F4F6FA"/>
            </a:solidFill>
            <a:ln>
              <a:noFill/>
            </a:ln>
          </p:spPr>
          <p:txBody>
            <a:bodyPr wrap="square" lIns="254" tIns="254" rIns="254" bIns="254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2563E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Day 14 &amp; Day 30</a:t>
              </a:r>
              <a:endParaRPr lang="en-US" dirty="0">
                <a:solidFill>
                  <a:srgbClr val="2563E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E19CE625-E066-4720-AA75-EC016895EE60}"/>
                </a:ext>
              </a:extLst>
            </p:cNvPr>
            <p:cNvSpPr/>
            <p:nvPr/>
          </p:nvSpPr>
          <p:spPr>
            <a:xfrm>
              <a:off x="9264106" y="2384810"/>
              <a:ext cx="283464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16212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Check durability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2FC26970-3ACF-43CD-81ED-32AA3504057B}"/>
                </a:ext>
              </a:extLst>
            </p:cNvPr>
            <p:cNvSpPr/>
            <p:nvPr/>
          </p:nvSpPr>
          <p:spPr>
            <a:xfrm>
              <a:off x="9442599" y="4711516"/>
              <a:ext cx="2502834" cy="501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600" dirty="0">
                  <a:solidFill>
                    <a:srgbClr val="5D6B7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Track whether improvement lasts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1016736F-79E1-4E78-B508-590F30C5C7CC}"/>
                </a:ext>
              </a:extLst>
            </p:cNvPr>
            <p:cNvSpPr/>
            <p:nvPr/>
          </p:nvSpPr>
          <p:spPr>
            <a:xfrm>
              <a:off x="9442599" y="1461347"/>
              <a:ext cx="2503785" cy="4355753"/>
            </a:xfrm>
            <a:prstGeom prst="roundRect">
              <a:avLst/>
            </a:prstGeom>
            <a:no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D490C2C-1764-4B6B-9E34-B20C4ECC2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61271" y="2930170"/>
              <a:ext cx="1431043" cy="1491171"/>
            </a:xfrm>
            <a:prstGeom prst="rect">
              <a:avLst/>
            </a:prstGeom>
          </p:spPr>
        </p:pic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9312262-7C4C-4756-8FE9-FD364330FB42}"/>
                </a:ext>
              </a:extLst>
            </p:cNvPr>
            <p:cNvSpPr/>
            <p:nvPr/>
          </p:nvSpPr>
          <p:spPr>
            <a:xfrm>
              <a:off x="10510669" y="1231982"/>
              <a:ext cx="449451" cy="428867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GB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1154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2155</TotalTime>
  <Words>591</Words>
  <Application>Microsoft Office PowerPoint</Application>
  <PresentationFormat>Widescreen</PresentationFormat>
  <Paragraphs>110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Webdings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Cohort Retention Analysis</dc:title>
  <dc:subject>E-commerce cohort retention analysis portfolio presentation</dc:subject>
  <dc:creator>OpenAI</dc:creator>
  <cp:lastModifiedBy>Linn S</cp:lastModifiedBy>
  <cp:revision>101</cp:revision>
  <dcterms:created xsi:type="dcterms:W3CDTF">2026-06-08T15:51:30Z</dcterms:created>
  <dcterms:modified xsi:type="dcterms:W3CDTF">2026-06-15T17:39:16Z</dcterms:modified>
</cp:coreProperties>
</file>